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3" r:id="rId2"/>
    <p:sldId id="284" r:id="rId3"/>
    <p:sldId id="275" r:id="rId4"/>
    <p:sldId id="286" r:id="rId5"/>
    <p:sldId id="289" r:id="rId6"/>
    <p:sldId id="287" r:id="rId7"/>
    <p:sldId id="288" r:id="rId8"/>
    <p:sldId id="28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69AD9-134C-9E28-FEB2-7C91A24F0E7A}" v="2987" dt="2026-07-01T05:22:38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81678-08DE-4AD3-B68B-CF42467A31C0}" type="datetimeFigureOut">
              <a:t>30/06/2026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0AD76-FA13-46D0-9820-7DB82EA179E0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34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8A8AEBE2-4006-54FB-3D3E-1FB86BBE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>
            <a:extLst>
              <a:ext uri="{FF2B5EF4-FFF2-40B4-BE49-F238E27FC236}">
                <a16:creationId xmlns:a16="http://schemas.microsoft.com/office/drawing/2014/main" id="{5F3BB428-B513-C6ED-A427-F12E6E03E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20321786-8203-406A-ADB4-9D2CB5EBC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12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E278FE46-67D6-75EA-D96F-0317C66E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>
            <a:extLst>
              <a:ext uri="{FF2B5EF4-FFF2-40B4-BE49-F238E27FC236}">
                <a16:creationId xmlns:a16="http://schemas.microsoft.com/office/drawing/2014/main" id="{F08AD096-1A8C-C310-BC43-8894CA2DC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F0C5E9F5-E640-66AE-DF7F-5DED24ECD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0558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9870DDD5-D8B3-C68D-EF77-2E28D87C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>
            <a:extLst>
              <a:ext uri="{FF2B5EF4-FFF2-40B4-BE49-F238E27FC236}">
                <a16:creationId xmlns:a16="http://schemas.microsoft.com/office/drawing/2014/main" id="{8F4A3814-0D12-5E02-F3D6-11333762A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9520D783-C2CC-BBB6-28D7-1F1A68476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5774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94502284-0C9B-9B6F-D9CC-22AA97B8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>
            <a:extLst>
              <a:ext uri="{FF2B5EF4-FFF2-40B4-BE49-F238E27FC236}">
                <a16:creationId xmlns:a16="http://schemas.microsoft.com/office/drawing/2014/main" id="{9890889C-A077-C5D0-4279-08F2706CB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75437B91-F7CB-F605-501E-5F333BB3C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839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CEB6C185-F909-2558-ACFF-97E50B32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>
            <a:extLst>
              <a:ext uri="{FF2B5EF4-FFF2-40B4-BE49-F238E27FC236}">
                <a16:creationId xmlns:a16="http://schemas.microsoft.com/office/drawing/2014/main" id="{58B76F8B-3AA9-27F2-6E26-2A3BF380E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DE4C81F5-11E4-79CA-4212-DA9DC91FC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6278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1C336072-39C0-633D-DDE1-42BD2180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>
            <a:extLst>
              <a:ext uri="{FF2B5EF4-FFF2-40B4-BE49-F238E27FC236}">
                <a16:creationId xmlns:a16="http://schemas.microsoft.com/office/drawing/2014/main" id="{8AC9F30C-70B0-A2D7-DCFC-8275925D0D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p20:notes">
            <a:extLst>
              <a:ext uri="{FF2B5EF4-FFF2-40B4-BE49-F238E27FC236}">
                <a16:creationId xmlns:a16="http://schemas.microsoft.com/office/drawing/2014/main" id="{C7934496-6B74-531D-1F62-B1DA6123F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6225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76A073A0-F9C8-E407-FDB7-22A99C12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>
            <a:extLst>
              <a:ext uri="{FF2B5EF4-FFF2-40B4-BE49-F238E27FC236}">
                <a16:creationId xmlns:a16="http://schemas.microsoft.com/office/drawing/2014/main" id="{60A7A773-D90A-D746-F9A9-66F896DF4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p20:notes">
            <a:extLst>
              <a:ext uri="{FF2B5EF4-FFF2-40B4-BE49-F238E27FC236}">
                <a16:creationId xmlns:a16="http://schemas.microsoft.com/office/drawing/2014/main" id="{8EF53ED5-5E81-6216-7497-BBDA6749A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679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Diseño personalizado">
  <p:cSld name="5_Diseño personaliza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2028"/>
            <a:ext cx="12195607" cy="68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504470" y="4353155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70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4029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/>
          <p:nvPr/>
        </p:nvSpPr>
        <p:spPr>
          <a:xfrm>
            <a:off x="441024" y="6186693"/>
            <a:ext cx="955797" cy="309977"/>
          </a:xfrm>
          <a:custGeom>
            <a:avLst/>
            <a:gdLst/>
            <a:ahLst/>
            <a:cxnLst/>
            <a:rect l="l" t="t" r="r" b="b"/>
            <a:pathLst>
              <a:path w="1576070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 extrusionOk="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endParaRPr sz="47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7"/>
          <p:cNvSpPr/>
          <p:nvPr/>
        </p:nvSpPr>
        <p:spPr>
          <a:xfrm>
            <a:off x="1462953" y="6212763"/>
            <a:ext cx="229515" cy="284948"/>
          </a:xfrm>
          <a:custGeom>
            <a:avLst/>
            <a:gdLst/>
            <a:ahLst/>
            <a:cxnLst/>
            <a:rect l="l" t="t" r="r" b="b"/>
            <a:pathLst>
              <a:path w="378460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endParaRPr sz="47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7"/>
          <p:cNvGrpSpPr/>
          <p:nvPr/>
        </p:nvGrpSpPr>
        <p:grpSpPr>
          <a:xfrm>
            <a:off x="1723956" y="6135386"/>
            <a:ext cx="258961" cy="362375"/>
            <a:chOff x="2842727" y="10117702"/>
            <a:chExt cx="427015" cy="597582"/>
          </a:xfrm>
        </p:grpSpPr>
        <p:sp>
          <p:nvSpPr>
            <p:cNvPr id="34" name="Google Shape;34;p27"/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endParaRPr sz="47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2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27"/>
          <p:cNvSpPr/>
          <p:nvPr/>
        </p:nvSpPr>
        <p:spPr>
          <a:xfrm>
            <a:off x="10819315" y="397869"/>
            <a:ext cx="1360528" cy="643058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endParaRPr sz="47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1"/>
          </p:nvPr>
        </p:nvSpPr>
        <p:spPr>
          <a:xfrm>
            <a:off x="441025" y="458111"/>
            <a:ext cx="10183655" cy="44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>
            <a:lvl1pPr marL="342900" lvl="0" indent="-3048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Char char="»"/>
              <a:defRPr sz="1637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4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○"/>
              <a:defRPr/>
            </a:lvl3pPr>
            <a:lvl4pPr marL="1371600" lvl="3" indent="-2476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00"/>
              <a:buChar char="•"/>
              <a:defRPr/>
            </a:lvl4pPr>
            <a:lvl5pPr marL="1714500" lvl="4" indent="-2381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0574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/>
            </a:lvl6pPr>
            <a:lvl7pPr marL="2400300" lvl="6" indent="-2190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/>
            </a:lvl7pPr>
            <a:lvl8pPr marL="2743200" lvl="7" indent="-2095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Char char="•"/>
              <a:defRPr/>
            </a:lvl8pPr>
            <a:lvl9pPr marL="3086100" lvl="8" indent="-2000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263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>
            <a:spLocks noGrp="1"/>
          </p:cNvSpPr>
          <p:nvPr>
            <p:ph type="sldNum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144" name="Google Shape;144;p3"/>
          <p:cNvSpPr txBox="1">
            <a:spLocks noGrp="1"/>
          </p:cNvSpPr>
          <p:nvPr>
            <p:ph type="body" idx="4294967295"/>
          </p:nvPr>
        </p:nvSpPr>
        <p:spPr>
          <a:xfrm>
            <a:off x="340713" y="3011446"/>
            <a:ext cx="6096000" cy="310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s-ES" sz="2400" b="1" dirty="0">
                <a:solidFill>
                  <a:schemeClr val="dk1"/>
                </a:solidFill>
              </a:rPr>
              <a:t>Sección:</a:t>
            </a:r>
            <a:r>
              <a:rPr lang="es-ES" b="1" dirty="0">
                <a:solidFill>
                  <a:schemeClr val="dk1"/>
                </a:solidFill>
              </a:rPr>
              <a:t> 006D</a:t>
            </a:r>
            <a:br>
              <a:rPr lang="es-ES" sz="2400" b="1" dirty="0"/>
            </a:br>
            <a:r>
              <a:rPr lang="es-ES" sz="2400" b="1" dirty="0">
                <a:solidFill>
                  <a:schemeClr val="dk1"/>
                </a:solidFill>
              </a:rPr>
              <a:t>Docente:</a:t>
            </a:r>
            <a:r>
              <a:rPr lang="es-ES" b="1" dirty="0">
                <a:solidFill>
                  <a:schemeClr val="dk1"/>
                </a:solidFill>
              </a:rPr>
              <a:t> Reginaldo Salinas Bruna</a:t>
            </a:r>
            <a:br>
              <a:rPr lang="es-ES" sz="2400" b="1" dirty="0"/>
            </a:br>
            <a:r>
              <a:rPr lang="es-ES" sz="2400" b="1" dirty="0">
                <a:solidFill>
                  <a:schemeClr val="dk1"/>
                </a:solidFill>
              </a:rPr>
              <a:t>Grupo </a:t>
            </a:r>
            <a:r>
              <a:rPr lang="es-ES" sz="2400" b="1" dirty="0" err="1">
                <a:solidFill>
                  <a:schemeClr val="dk1"/>
                </a:solidFill>
              </a:rPr>
              <a:t>Nº</a:t>
            </a:r>
            <a:r>
              <a:rPr lang="es-ES" sz="2400" b="1" dirty="0">
                <a:solidFill>
                  <a:schemeClr val="dk1"/>
                </a:solidFill>
              </a:rPr>
              <a:t>:</a:t>
            </a:r>
            <a:r>
              <a:rPr lang="es-ES" b="1" dirty="0">
                <a:solidFill>
                  <a:schemeClr val="dk1"/>
                </a:solidFill>
              </a:rPr>
              <a:t> 5</a:t>
            </a:r>
            <a:br>
              <a:rPr lang="es-ES" sz="2400" b="1" dirty="0"/>
            </a:br>
            <a:r>
              <a:rPr lang="es-ES" sz="2400" b="1" dirty="0">
                <a:solidFill>
                  <a:schemeClr val="dk1"/>
                </a:solidFill>
              </a:rPr>
              <a:t>Integrantes:</a:t>
            </a:r>
            <a:endParaRPr lang="es-ES" dirty="0">
              <a:solidFill>
                <a:schemeClr val="dk1"/>
              </a:solidFill>
            </a:endParaRPr>
          </a:p>
          <a:p>
            <a:pPr marL="50800" indent="0">
              <a:buNone/>
            </a:pPr>
            <a:r>
              <a:rPr lang="es-ES" sz="1800" b="1">
                <a:solidFill>
                  <a:schemeClr val="dk1"/>
                </a:solidFill>
                <a:ea typeface="Roboto Condensed"/>
                <a:cs typeface="Roboto Condensed"/>
              </a:rPr>
              <a:t>Milton Espinoza</a:t>
            </a:r>
          </a:p>
          <a:p>
            <a:pPr marL="50800" indent="0">
              <a:buNone/>
            </a:pPr>
            <a:r>
              <a:rPr lang="es-ES" sz="1800" b="1">
                <a:solidFill>
                  <a:schemeClr val="dk1"/>
                </a:solidFill>
                <a:ea typeface="Roboto Condensed"/>
                <a:cs typeface="Roboto Condensed"/>
              </a:rPr>
              <a:t>Jeremi Macaya</a:t>
            </a:r>
          </a:p>
          <a:p>
            <a:pPr marL="50800" indent="0">
              <a:buNone/>
            </a:pPr>
            <a:r>
              <a:rPr lang="es-ES" sz="1800" b="1">
                <a:solidFill>
                  <a:schemeClr val="dk1"/>
                </a:solidFill>
                <a:ea typeface="Roboto Condensed"/>
                <a:cs typeface="Roboto Condensed"/>
              </a:rPr>
              <a:t>Felipe Zapata</a:t>
            </a:r>
          </a:p>
          <a:p>
            <a:pPr marL="50800" indent="0">
              <a:buNone/>
            </a:pPr>
            <a:endParaRPr lang="es-ES" b="1">
              <a:solidFill>
                <a:schemeClr val="dk1"/>
              </a:solidFill>
              <a:ea typeface="Roboto Condensed"/>
              <a:cs typeface="Roboto Condensed"/>
            </a:endParaRPr>
          </a:p>
          <a:p>
            <a:pPr marL="50800" indent="0">
              <a:buNone/>
            </a:pPr>
            <a:endParaRPr lang="es-ES" b="1">
              <a:solidFill>
                <a:schemeClr val="dk1"/>
              </a:solidFill>
              <a:ea typeface="Roboto Condensed"/>
              <a:cs typeface="Roboto Condense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F79FF6-2054-29B8-40AE-43DE72670FEC}"/>
              </a:ext>
            </a:extLst>
          </p:cNvPr>
          <p:cNvSpPr txBox="1"/>
          <p:nvPr/>
        </p:nvSpPr>
        <p:spPr>
          <a:xfrm>
            <a:off x="339687" y="564614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600" b="0" i="0" u="none" strike="noStrike" baseline="0" dirty="0">
                <a:latin typeface="Roboto Condensed"/>
              </a:rPr>
              <a:t>Ingeniería de Software</a:t>
            </a:r>
            <a:r>
              <a:rPr sz="3600" b="0" i="0" dirty="0">
                <a:latin typeface="Roboto Condensed"/>
                <a:ea typeface="Roboto Condensed"/>
                <a:cs typeface="Roboto Condensed"/>
              </a:rPr>
              <a:t>​</a:t>
            </a:r>
            <a:br>
              <a:rPr sz="3600" b="0" i="0" dirty="0">
                <a:latin typeface="Roboto Condensed"/>
                <a:ea typeface="Roboto Condensed"/>
                <a:cs typeface="Roboto Condensed"/>
              </a:rPr>
            </a:br>
            <a:r>
              <a:rPr lang="es-ES" sz="3600">
                <a:latin typeface="Roboto Condensed"/>
                <a:ea typeface="Roboto Condensed"/>
                <a:cs typeface="Roboto Condensed"/>
              </a:rPr>
              <a:t>Evaluación N°3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29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194C3A54-EC38-B01E-7395-E3EAD371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6;p48">
            <a:extLst>
              <a:ext uri="{FF2B5EF4-FFF2-40B4-BE49-F238E27FC236}">
                <a16:creationId xmlns:a16="http://schemas.microsoft.com/office/drawing/2014/main" id="{15311E90-F626-D813-8F9D-F9D25D772C29}"/>
              </a:ext>
            </a:extLst>
          </p:cNvPr>
          <p:cNvSpPr txBox="1"/>
          <p:nvPr/>
        </p:nvSpPr>
        <p:spPr>
          <a:xfrm>
            <a:off x="2674803" y="443570"/>
            <a:ext cx="5118429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lnSpc>
                <a:spcPct val="90000"/>
              </a:lnSpc>
              <a:buClr>
                <a:srgbClr val="FFFFFF"/>
              </a:buClr>
              <a:buSzPts val="3000"/>
              <a:buFont typeface="Roboto Condensed"/>
            </a:pPr>
            <a:r>
              <a:rPr lang="es-E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rPr>
              <a:t>Contexto y </a:t>
            </a:r>
            <a:r>
              <a:rPr lang="es-ES" sz="3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rPr>
              <a:t>Problemática</a:t>
            </a:r>
          </a:p>
          <a:p>
            <a:pPr algn="r">
              <a:lnSpc>
                <a:spcPct val="90000"/>
              </a:lnSpc>
              <a:buSzPts val="3000"/>
              <a:buFont typeface="Roboto Condensed"/>
            </a:pPr>
            <a:endParaRPr lang="es-ES" sz="32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DB118C-95E4-A933-48D4-8BF07E058888}"/>
              </a:ext>
            </a:extLst>
          </p:cNvPr>
          <p:cNvSpPr txBox="1"/>
          <p:nvPr/>
        </p:nvSpPr>
        <p:spPr>
          <a:xfrm>
            <a:off x="706916" y="2097796"/>
            <a:ext cx="4672989" cy="44986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800"/>
              </a:lnSpc>
            </a:pPr>
            <a:r>
              <a:rPr lang="es-ES" sz="1600" b="0" i="0" u="none" strike="noStrike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La importadora "Larraín" se dedica desde hace 15 años a la importación de accesorios electrónicos desde China. En los dos últimos años ha tenido bajos ingresos. </a:t>
            </a:r>
            <a:endParaRPr lang="en-US" sz="1600">
              <a:solidFill>
                <a:srgbClr val="17274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r>
              <a:rPr lang="es-ES" sz="1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Actualmente, la empresa </a:t>
            </a:r>
            <a:r>
              <a:rPr lang="es-ES" sz="1600" b="0" i="0" u="none" strike="noStrike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cuenta con una bodega central y una sucursal para ventas al detalle y al por mayor.</a:t>
            </a:r>
            <a:r>
              <a:rPr lang="es-ES" sz="160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</a:t>
            </a:r>
            <a:endParaRPr lang="en-US" sz="1600">
              <a:solidFill>
                <a:srgbClr val="17274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r>
              <a:rPr lang="es-ES" sz="1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El </a:t>
            </a:r>
            <a:r>
              <a:rPr lang="es-ES" sz="1600" b="0" i="0" u="none" strike="noStrike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modelo de negocio vigente implica investigar ofertas, comprar vía correo electrónico y vender </a:t>
            </a:r>
            <a:r>
              <a:rPr lang="es-ES" sz="16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directamente en su tienda física</a:t>
            </a:r>
            <a:r>
              <a:rPr lang="es-ES" sz="160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. </a:t>
            </a:r>
            <a:endParaRPr lang="en-US" sz="1600" b="0" i="0">
              <a:solidFill>
                <a:srgbClr val="17274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endParaRPr lang="es-ES" sz="1600" dirty="0">
              <a:solidFill>
                <a:srgbClr val="172740"/>
              </a:solidFill>
              <a:latin typeface="Arial"/>
              <a:ea typeface="Segoe UI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Arial"/>
            </a:endParaRPr>
          </a:p>
          <a:p>
            <a:pPr>
              <a:lnSpc>
                <a:spcPts val="1800"/>
              </a:lnSpc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>
              <a:lnSpc>
                <a:spcPts val="1800"/>
              </a:lnSpc>
            </a:pPr>
            <a:endParaRPr lang="es-ES" sz="1600" dirty="0">
              <a:solidFill>
                <a:srgbClr val="000000"/>
              </a:solidFill>
              <a:latin typeface="Arial"/>
              <a:ea typeface="Segoe UI"/>
              <a:cs typeface="Segoe UI"/>
            </a:endParaRPr>
          </a:p>
          <a:p>
            <a:pPr algn="l" rtl="0">
              <a:lnSpc>
                <a:spcPts val="1575"/>
              </a:lnSpc>
            </a:pPr>
            <a:r>
              <a:rPr lang="es-ES" sz="1400" b="0" i="0">
                <a:solidFill>
                  <a:srgbClr val="17274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83CAA2-CCAC-DB44-15B8-241465AC64F0}"/>
              </a:ext>
            </a:extLst>
          </p:cNvPr>
          <p:cNvSpPr txBox="1"/>
          <p:nvPr/>
        </p:nvSpPr>
        <p:spPr>
          <a:xfrm>
            <a:off x="6584632" y="2344103"/>
            <a:ext cx="4852977" cy="21698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1800"/>
              </a:lnSpc>
              <a:buFont typeface="Calibri"/>
              <a:buChar char="-"/>
            </a:pPr>
            <a:r>
              <a:rPr lang="es-ES" sz="1600">
                <a:latin typeface="Arial"/>
                <a:cs typeface="Arial"/>
              </a:rPr>
              <a:t>Preferencia de los clientes hacia otros medios de importación directamente desde China</a:t>
            </a:r>
            <a:endParaRPr lang="es-ES" sz="1600" dirty="0">
              <a:latin typeface="Arial"/>
              <a:cs typeface="Arial"/>
            </a:endParaRPr>
          </a:p>
          <a:p>
            <a:pPr>
              <a:lnSpc>
                <a:spcPts val="1800"/>
              </a:lnSpc>
            </a:pPr>
            <a:endParaRPr lang="es-ES" sz="1600" dirty="0">
              <a:latin typeface="Arial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r>
              <a:rPr lang="es-ES" sz="1600">
                <a:latin typeface="Arial"/>
                <a:cs typeface="Arial"/>
              </a:rPr>
              <a:t>Retraso de dos meses en las importaciones</a:t>
            </a:r>
            <a:endParaRPr lang="es-ES" sz="1600" dirty="0">
              <a:latin typeface="Arial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endParaRPr lang="es-ES" sz="1600" dirty="0">
              <a:latin typeface="Arial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r>
              <a:rPr lang="es-ES" sz="1600">
                <a:latin typeface="Arial"/>
                <a:cs typeface="Arial"/>
              </a:rPr>
              <a:t>Falta de tarjetas bancarias </a:t>
            </a:r>
            <a:endParaRPr lang="es-ES" sz="1600" dirty="0">
              <a:latin typeface="Arial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endParaRPr lang="es-ES" sz="1600" dirty="0">
              <a:latin typeface="Arial"/>
              <a:cs typeface="Arial"/>
            </a:endParaRPr>
          </a:p>
          <a:p>
            <a:pPr marL="285750" indent="-285750">
              <a:lnSpc>
                <a:spcPts val="1800"/>
              </a:lnSpc>
              <a:buFont typeface="Calibri"/>
              <a:buChar char="-"/>
            </a:pPr>
            <a:r>
              <a:rPr lang="es-ES" sz="1600">
                <a:latin typeface="Arial"/>
                <a:cs typeface="Arial"/>
              </a:rPr>
              <a:t>Ausencia de canales de comunicación ágiles y modernos</a:t>
            </a:r>
            <a:endParaRPr lang="es-ES" sz="1600">
              <a:solidFill>
                <a:srgbClr val="17274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6031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C55DF8AB-6EFC-7E85-35FB-21F5419D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9">
            <a:extLst>
              <a:ext uri="{FF2B5EF4-FFF2-40B4-BE49-F238E27FC236}">
                <a16:creationId xmlns:a16="http://schemas.microsoft.com/office/drawing/2014/main" id="{BCC25918-40B8-C90C-37DF-5026AB4C2A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789900" y="547135"/>
            <a:ext cx="5932488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3200" b="1">
                <a:solidFill>
                  <a:schemeClr val="dk1"/>
                </a:solidFill>
              </a:rPr>
              <a:t>Objetivos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13B7B13-2D8A-EAA2-41F4-053500832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010809"/>
              </p:ext>
            </p:extLst>
          </p:nvPr>
        </p:nvGraphicFramePr>
        <p:xfrm>
          <a:off x="5458158" y="1935820"/>
          <a:ext cx="6044522" cy="2981865"/>
        </p:xfrm>
        <a:graphic>
          <a:graphicData uri="http://schemas.openxmlformats.org/drawingml/2006/table">
            <a:tbl>
              <a:tblPr bandRow="1"/>
              <a:tblGrid>
                <a:gridCol w="6044522">
                  <a:extLst>
                    <a:ext uri="{9D8B030D-6E8A-4147-A177-3AD203B41FA5}">
                      <a16:colId xmlns:a16="http://schemas.microsoft.com/office/drawing/2014/main" val="1961237591"/>
                    </a:ext>
                  </a:extLst>
                </a:gridCol>
              </a:tblGrid>
              <a:tr h="56680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75"/>
                        </a:lnSpc>
                        <a:buNone/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Objetivos específicos del proyecto</a:t>
                      </a:r>
                    </a:p>
                  </a:txBody>
                  <a:tcPr marL="86878" marR="86878" marT="43434" marB="43434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1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30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185987"/>
                  </a:ext>
                </a:extLst>
              </a:tr>
              <a:tr h="603766">
                <a:tc>
                  <a:txBody>
                    <a:bodyPr/>
                    <a:lstStyle/>
                    <a:p>
                      <a:pPr lvl="0" algn="l">
                        <a:lnSpc>
                          <a:spcPts val="1575"/>
                        </a:lnSpc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1 - Implementar un sistema que permita a los clientes realizar pedidos, consultar ofertas y tener un registro de sus productos ya </a:t>
                      </a:r>
                      <a:r>
                        <a:rPr lang="es-ES" sz="1400" b="0" i="0" u="none" strike="noStrike" noProof="0">
                          <a:solidFill>
                            <a:srgbClr val="172740"/>
                          </a:solidFill>
                          <a:effectLst/>
                        </a:rPr>
                        <a:t>comprados</a:t>
                      </a: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.</a:t>
                      </a:r>
                      <a:endParaRPr lang="es-ES" dirty="0"/>
                    </a:p>
                  </a:txBody>
                  <a:tcPr marL="86878" marR="86878" marT="43434" marB="43434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1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038828"/>
                  </a:ext>
                </a:extLst>
              </a:tr>
              <a:tr h="603766">
                <a:tc>
                  <a:txBody>
                    <a:bodyPr/>
                    <a:lstStyle/>
                    <a:p>
                      <a:pPr lvl="0" algn="l">
                        <a:lnSpc>
                          <a:spcPts val="1575"/>
                        </a:lnSpc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2 - Habilitar un acceso en la plataforma para que mediante una búsqueda de </a:t>
                      </a:r>
                      <a:r>
                        <a:rPr lang="es-ES" sz="1400" b="0" i="0" u="none" strike="noStrike" noProof="0" dirty="0" err="1">
                          <a:solidFill>
                            <a:schemeClr val="tx1"/>
                          </a:solidFill>
                          <a:effectLst/>
                        </a:rPr>
                        <a:t>scraping</a:t>
                      </a:r>
                      <a:r>
                        <a:rPr lang="es-ES" sz="1400" b="0" i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 se actualice la lista de ofertas disponibles.</a:t>
                      </a:r>
                      <a:endParaRPr lang="es-ES" dirty="0">
                        <a:solidFill>
                          <a:schemeClr val="tx1"/>
                        </a:solidFill>
                      </a:endParaRPr>
                    </a:p>
                  </a:txBody>
                  <a:tcPr marL="86878" marR="86878" marT="43434" marB="43434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007692"/>
                  </a:ext>
                </a:extLst>
              </a:tr>
              <a:tr h="603766">
                <a:tc>
                  <a:txBody>
                    <a:bodyPr/>
                    <a:lstStyle/>
                    <a:p>
                      <a:pPr lvl="0" algn="l">
                        <a:lnSpc>
                          <a:spcPts val="1575"/>
                        </a:lnSpc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3 - Desarrollar un módulo de gestión para el supervisor que permita </a:t>
                      </a:r>
                      <a:r>
                        <a:rPr lang="es-ES" sz="1400" b="0" i="0" u="none" strike="noStrike" noProof="0" dirty="0" err="1">
                          <a:solidFill>
                            <a:srgbClr val="172740"/>
                          </a:solidFill>
                          <a:effectLst/>
                        </a:rPr>
                        <a:t>scrapear</a:t>
                      </a: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 las ofertas y gestionar pedidos realizados por clientes.</a:t>
                      </a:r>
                    </a:p>
                  </a:txBody>
                  <a:tcPr marL="86878" marR="86878" marT="43434" marB="43434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C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452004"/>
                  </a:ext>
                </a:extLst>
              </a:tr>
              <a:tr h="603766">
                <a:tc>
                  <a:txBody>
                    <a:bodyPr/>
                    <a:lstStyle/>
                    <a:p>
                      <a:pPr lvl="0" algn="l">
                        <a:lnSpc>
                          <a:spcPts val="1575"/>
                        </a:lnSpc>
                        <a:buNone/>
                      </a:pP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4 - Mejorar el manejo y </a:t>
                      </a:r>
                      <a:r>
                        <a:rPr lang="es-ES" sz="1400" b="0" i="0" u="none" strike="noStrike" noProof="0" dirty="0" err="1">
                          <a:solidFill>
                            <a:srgbClr val="172740"/>
                          </a:solidFill>
                          <a:effectLst/>
                        </a:rPr>
                        <a:t>gestion</a:t>
                      </a: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 de productos en ofertas, </a:t>
                      </a:r>
                      <a:r>
                        <a:rPr lang="es-ES" sz="1400" b="0" i="0" u="none" strike="noStrike" noProof="0" dirty="0" err="1">
                          <a:solidFill>
                            <a:srgbClr val="172740"/>
                          </a:solidFill>
                          <a:effectLst/>
                        </a:rPr>
                        <a:t>especificamente</a:t>
                      </a:r>
                      <a:r>
                        <a:rPr lang="es-ES" sz="1400" b="0" i="0" u="none" strike="noStrike" noProof="0" dirty="0">
                          <a:solidFill>
                            <a:srgbClr val="172740"/>
                          </a:solidFill>
                          <a:effectLst/>
                        </a:rPr>
                        <a:t> stock en tiempo real.</a:t>
                      </a:r>
                    </a:p>
                  </a:txBody>
                  <a:tcPr marL="86878" marR="86878" marT="43434" marB="43434">
                    <a:lnL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0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57040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F5A2E9C1-2D1C-117E-AB57-C4A8D27CAA57}"/>
              </a:ext>
            </a:extLst>
          </p:cNvPr>
          <p:cNvSpPr txBox="1"/>
          <p:nvPr/>
        </p:nvSpPr>
        <p:spPr>
          <a:xfrm>
            <a:off x="537814" y="1014417"/>
            <a:ext cx="42511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/>
              <a:t>OBJETIVO GENERAL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D2F4-38DD-14C4-02F0-83F6B914EBD8}"/>
              </a:ext>
            </a:extLst>
          </p:cNvPr>
          <p:cNvSpPr txBox="1"/>
          <p:nvPr/>
        </p:nvSpPr>
        <p:spPr>
          <a:xfrm>
            <a:off x="534391" y="1712008"/>
            <a:ext cx="4669682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Crear dos </a:t>
            </a:r>
            <a:r>
              <a:rPr lang="en-US" sz="2000" dirty="0" err="1"/>
              <a:t>plataformas</a:t>
            </a:r>
            <a:r>
              <a:rPr lang="en-US" sz="2000" dirty="0"/>
              <a:t> para </a:t>
            </a:r>
            <a:r>
              <a:rPr lang="en-US" sz="2000" dirty="0" err="1"/>
              <a:t>mejorar</a:t>
            </a:r>
            <a:r>
              <a:rPr lang="en-US" sz="2000" dirty="0"/>
              <a:t> la </a:t>
            </a:r>
            <a:r>
              <a:rPr lang="en-US" sz="2000" dirty="0" err="1"/>
              <a:t>eficiencia</a:t>
            </a:r>
            <a:r>
              <a:rPr lang="en-US" sz="2000" dirty="0"/>
              <a:t> del </a:t>
            </a:r>
            <a:r>
              <a:rPr lang="en-US" sz="2000" dirty="0" err="1"/>
              <a:t>flujo</a:t>
            </a:r>
            <a:r>
              <a:rPr lang="en-US" sz="2000" dirty="0"/>
              <a:t> de </a:t>
            </a:r>
            <a:r>
              <a:rPr lang="en-US" sz="2000" dirty="0" err="1"/>
              <a:t>negocio</a:t>
            </a:r>
            <a:r>
              <a:rPr lang="en-US" sz="2000" dirty="0"/>
              <a:t>: </a:t>
            </a:r>
          </a:p>
          <a:p>
            <a:endParaRPr lang="en-US" sz="2000" dirty="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000" dirty="0">
                <a:ea typeface="Calibri"/>
                <a:cs typeface="Calibri"/>
              </a:rPr>
              <a:t>Sistema </a:t>
            </a:r>
            <a:r>
              <a:rPr lang="en-US" sz="2000" dirty="0" err="1">
                <a:ea typeface="Calibri"/>
                <a:cs typeface="Calibri"/>
              </a:rPr>
              <a:t>Administador</a:t>
            </a:r>
            <a:r>
              <a:rPr lang="en-US" sz="2000" dirty="0">
                <a:ea typeface="Calibri"/>
                <a:cs typeface="Calibri"/>
              </a:rPr>
              <a:t>: </a:t>
            </a:r>
            <a:r>
              <a:rPr lang="en-US" sz="2000" dirty="0" err="1">
                <a:ea typeface="Calibri"/>
                <a:cs typeface="Calibri"/>
              </a:rPr>
              <a:t>Permite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extraer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ofertas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tiempo</a:t>
            </a:r>
            <a:r>
              <a:rPr lang="en-US" sz="2000" dirty="0">
                <a:ea typeface="Calibri"/>
                <a:cs typeface="Calibri"/>
              </a:rPr>
              <a:t> real de </a:t>
            </a:r>
            <a:r>
              <a:rPr lang="en-US" sz="2000" dirty="0" err="1">
                <a:ea typeface="Calibri"/>
                <a:cs typeface="Calibri"/>
              </a:rPr>
              <a:t>manera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masiva</a:t>
            </a:r>
            <a:r>
              <a:rPr lang="en-US" sz="2000" dirty="0">
                <a:ea typeface="Calibri"/>
                <a:cs typeface="Calibri"/>
              </a:rPr>
              <a:t>, y luego </a:t>
            </a:r>
            <a:r>
              <a:rPr lang="en-US" sz="2000" dirty="0" err="1">
                <a:ea typeface="Calibri"/>
                <a:cs typeface="Calibri"/>
              </a:rPr>
              <a:t>seleccionar</a:t>
            </a:r>
            <a:r>
              <a:rPr lang="en-US" sz="2000" dirty="0">
                <a:ea typeface="Calibri"/>
                <a:cs typeface="Calibri"/>
              </a:rPr>
              <a:t> las mas </a:t>
            </a:r>
            <a:r>
              <a:rPr lang="en-US" sz="2000" dirty="0" err="1">
                <a:ea typeface="Calibri"/>
                <a:cs typeface="Calibri"/>
              </a:rPr>
              <a:t>convenientes</a:t>
            </a:r>
            <a:r>
              <a:rPr lang="en-US" sz="2000" dirty="0">
                <a:ea typeface="Calibri"/>
                <a:cs typeface="Calibri"/>
              </a:rPr>
              <a:t> para el </a:t>
            </a:r>
            <a:r>
              <a:rPr lang="en-US" sz="2000" dirty="0" err="1">
                <a:ea typeface="Calibri"/>
                <a:cs typeface="Calibri"/>
              </a:rPr>
              <a:t>cliente</a:t>
            </a:r>
            <a:r>
              <a:rPr lang="en-US" sz="2000" dirty="0">
                <a:ea typeface="Calibri"/>
                <a:cs typeface="Calibri"/>
              </a:rPr>
              <a:t> final.</a:t>
            </a:r>
          </a:p>
          <a:p>
            <a:pPr marL="457200" indent="-457200">
              <a:buAutoNum type="arabicPeriod"/>
            </a:pPr>
            <a:endParaRPr lang="en-US" sz="2000" dirty="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000" dirty="0">
                <a:ea typeface="Calibri"/>
                <a:cs typeface="Calibri"/>
              </a:rPr>
              <a:t>Sistema </a:t>
            </a:r>
            <a:r>
              <a:rPr lang="en-US" sz="2000" dirty="0" err="1">
                <a:ea typeface="Calibri"/>
                <a:cs typeface="Calibri"/>
              </a:rPr>
              <a:t>Cliente</a:t>
            </a:r>
            <a:r>
              <a:rPr lang="en-US" sz="2000" dirty="0">
                <a:ea typeface="Calibri"/>
                <a:cs typeface="Calibri"/>
              </a:rPr>
              <a:t>: </a:t>
            </a:r>
            <a:r>
              <a:rPr lang="en-US" sz="2000" dirty="0" err="1">
                <a:ea typeface="Calibri"/>
                <a:cs typeface="Calibri"/>
              </a:rPr>
              <a:t>Permite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visualizar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catálogo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previamente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scrapeado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por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administrador</a:t>
            </a:r>
            <a:r>
              <a:rPr lang="en-US" sz="2000" dirty="0">
                <a:ea typeface="Calibri"/>
                <a:cs typeface="Calibri"/>
              </a:rPr>
              <a:t>, con </a:t>
            </a:r>
            <a:r>
              <a:rPr lang="en-US" sz="2000" dirty="0" err="1">
                <a:ea typeface="Calibri"/>
                <a:cs typeface="Calibri"/>
              </a:rPr>
              <a:t>su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precio</a:t>
            </a:r>
            <a:r>
              <a:rPr lang="en-US" sz="2000" dirty="0">
                <a:ea typeface="Calibri"/>
                <a:cs typeface="Calibri"/>
              </a:rPr>
              <a:t> de </a:t>
            </a:r>
            <a:r>
              <a:rPr lang="en-US" sz="2000" dirty="0" err="1">
                <a:ea typeface="Calibri"/>
                <a:cs typeface="Calibri"/>
              </a:rPr>
              <a:t>importación</a:t>
            </a:r>
            <a:r>
              <a:rPr lang="en-US" sz="2000" dirty="0">
                <a:ea typeface="Calibri"/>
                <a:cs typeface="Calibri"/>
              </a:rPr>
              <a:t> e IVA </a:t>
            </a:r>
            <a:r>
              <a:rPr lang="en-US" sz="2000" dirty="0" err="1">
                <a:ea typeface="Calibri"/>
                <a:cs typeface="Calibri"/>
              </a:rPr>
              <a:t>ya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implementado</a:t>
            </a:r>
            <a:r>
              <a:rPr lang="en-US" sz="2000" dirty="0"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38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62C6A020-35B2-8BFA-3A8C-7FFAAA20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B6B917-126B-7A91-AD06-1ECECC3F3D34}"/>
              </a:ext>
            </a:extLst>
          </p:cNvPr>
          <p:cNvSpPr txBox="1"/>
          <p:nvPr/>
        </p:nvSpPr>
        <p:spPr>
          <a:xfrm>
            <a:off x="3048000" y="475343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400" b="1">
                <a:solidFill>
                  <a:srgbClr val="000000"/>
                </a:solidFill>
                <a:latin typeface="Calibri"/>
              </a:rPr>
              <a:t>Prototipo</a:t>
            </a:r>
            <a:r>
              <a:rPr sz="44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s-ES" dirty="0">
              <a:ea typeface="Calibri"/>
              <a:cs typeface="Calibri"/>
            </a:endParaRPr>
          </a:p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0DCD4313-980C-059E-CD9E-30CF19AD2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192" y="1361848"/>
            <a:ext cx="7915275" cy="50196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3C3ABD-2697-6AB9-6C33-E1AE16F91CBB}"/>
              </a:ext>
            </a:extLst>
          </p:cNvPr>
          <p:cNvSpPr txBox="1"/>
          <p:nvPr/>
        </p:nvSpPr>
        <p:spPr>
          <a:xfrm>
            <a:off x="711868" y="1624262"/>
            <a:ext cx="299872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 dirty="0">
                <a:ea typeface="Calibri"/>
                <a:cs typeface="Calibri"/>
              </a:rPr>
              <a:t>Vista de administrador:</a:t>
            </a:r>
            <a:r>
              <a:rPr lang="es-ES" dirty="0">
                <a:ea typeface="Calibri"/>
                <a:cs typeface="Calibri"/>
              </a:rPr>
              <a:t> Consola con opciones </a:t>
            </a:r>
            <a:r>
              <a:rPr lang="es-ES" dirty="0" err="1">
                <a:ea typeface="Calibri"/>
                <a:cs typeface="Calibri"/>
              </a:rPr>
              <a:t>númericas</a:t>
            </a:r>
            <a:r>
              <a:rPr lang="es-ES" dirty="0">
                <a:ea typeface="Calibri"/>
                <a:cs typeface="Calibri"/>
              </a:rPr>
              <a:t>, siendo su principal </a:t>
            </a:r>
            <a:r>
              <a:rPr lang="es-ES" dirty="0" err="1">
                <a:ea typeface="Calibri"/>
                <a:cs typeface="Calibri"/>
              </a:rPr>
              <a:t>funció</a:t>
            </a:r>
            <a:r>
              <a:rPr lang="es-ES" dirty="0">
                <a:ea typeface="Calibri"/>
                <a:cs typeface="Calibri"/>
              </a:rPr>
              <a:t>n extraer datos con herramientas de </a:t>
            </a:r>
            <a:r>
              <a:rPr lang="es-ES" dirty="0" err="1">
                <a:ea typeface="Calibri"/>
                <a:cs typeface="Calibri"/>
              </a:rPr>
              <a:t>scraping</a:t>
            </a:r>
            <a:r>
              <a:rPr lang="es-ES" dirty="0">
                <a:ea typeface="Calibri"/>
                <a:cs typeface="Calibri"/>
              </a:rPr>
              <a:t>. </a:t>
            </a:r>
          </a:p>
          <a:p>
            <a:endParaRPr lang="es-ES" dirty="0">
              <a:ea typeface="Calibri"/>
              <a:cs typeface="Calibri"/>
            </a:endParaRPr>
          </a:p>
          <a:p>
            <a:r>
              <a:rPr lang="es-ES" dirty="0">
                <a:ea typeface="Calibri"/>
                <a:cs typeface="Calibri"/>
              </a:rPr>
              <a:t>Además, permite filtrar por categorías, aumentando su eficiencia a la hora de solicitar </a:t>
            </a:r>
            <a:r>
              <a:rPr lang="es-ES">
                <a:ea typeface="Calibri"/>
                <a:cs typeface="Calibri"/>
              </a:rPr>
              <a:t>productos para periodos de alta temporada</a:t>
            </a:r>
            <a:r>
              <a:rPr lang="es-ES" dirty="0"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15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F9D2291D-8F5E-0B77-1F0A-F75FB454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ED8CA84-4977-D0ED-582E-5979444ED253}"/>
              </a:ext>
            </a:extLst>
          </p:cNvPr>
          <p:cNvSpPr txBox="1"/>
          <p:nvPr/>
        </p:nvSpPr>
        <p:spPr>
          <a:xfrm>
            <a:off x="3048000" y="475343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400" b="1">
                <a:solidFill>
                  <a:srgbClr val="000000"/>
                </a:solidFill>
                <a:latin typeface="Calibri"/>
              </a:rPr>
              <a:t>Prototipo</a:t>
            </a:r>
            <a:r>
              <a:rPr sz="44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s-ES" dirty="0">
              <a:ea typeface="Calibri"/>
              <a:cs typeface="Calibri"/>
            </a:endParaRPr>
          </a:p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1FE6BEF-7678-A628-E602-063349B42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848" y="1373868"/>
            <a:ext cx="8067675" cy="50101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8946178-E770-98C4-0801-A42620493FBC}"/>
              </a:ext>
            </a:extLst>
          </p:cNvPr>
          <p:cNvSpPr txBox="1"/>
          <p:nvPr/>
        </p:nvSpPr>
        <p:spPr>
          <a:xfrm>
            <a:off x="711868" y="1624262"/>
            <a:ext cx="2998727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b="1">
                <a:ea typeface="Calibri"/>
                <a:cs typeface="Calibri"/>
              </a:rPr>
              <a:t>Vista de cliente:</a:t>
            </a:r>
            <a:r>
              <a:rPr lang="es-ES" dirty="0">
                <a:ea typeface="Calibri"/>
                <a:cs typeface="Calibri"/>
              </a:rPr>
              <a:t> </a:t>
            </a:r>
            <a:endParaRPr lang="es-ES"/>
          </a:p>
          <a:p>
            <a:r>
              <a:rPr lang="es-ES" dirty="0">
                <a:ea typeface="Calibri"/>
                <a:cs typeface="Calibri"/>
              </a:rPr>
              <a:t>Consola con opciones númericas, siendo su principal función realizar una orden de pedido en base a los productos previamente </a:t>
            </a:r>
            <a:r>
              <a:rPr lang="es-ES" dirty="0" err="1">
                <a:ea typeface="Calibri"/>
                <a:cs typeface="Calibri"/>
              </a:rPr>
              <a:t>scrapeados</a:t>
            </a:r>
            <a:r>
              <a:rPr lang="es-ES" dirty="0">
                <a:ea typeface="Calibri"/>
                <a:cs typeface="Calibri"/>
              </a:rPr>
              <a:t> por administrador. </a:t>
            </a:r>
            <a:endParaRPr lang="es-ES" dirty="0"/>
          </a:p>
          <a:p>
            <a:endParaRPr lang="es-ES" dirty="0">
              <a:ea typeface="Calibri"/>
              <a:cs typeface="Calibri"/>
            </a:endParaRPr>
          </a:p>
          <a:p>
            <a:r>
              <a:rPr lang="es-ES" dirty="0">
                <a:ea typeface="Calibri"/>
                <a:cs typeface="Calibri"/>
              </a:rPr>
              <a:t>Además, permite visualizar carrito antes de la compra y ver historial mediante </a:t>
            </a:r>
            <a:r>
              <a:rPr lang="es-ES" dirty="0" err="1">
                <a:ea typeface="Calibri"/>
                <a:cs typeface="Calibri"/>
              </a:rPr>
              <a:t>rut</a:t>
            </a:r>
            <a:r>
              <a:rPr lang="es-ES" dirty="0">
                <a:ea typeface="Calibri"/>
                <a:cs typeface="Calibri"/>
              </a:rPr>
              <a:t> del cliente.</a:t>
            </a:r>
          </a:p>
        </p:txBody>
      </p:sp>
    </p:spTree>
    <p:extLst>
      <p:ext uri="{BB962C8B-B14F-4D97-AF65-F5344CB8AC3E}">
        <p14:creationId xmlns:p14="http://schemas.microsoft.com/office/powerpoint/2010/main" val="190346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D56D8614-5AA1-9B3A-B59B-0464210B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7EDAAF-F44E-7675-DC67-9C85353F437E}"/>
              </a:ext>
            </a:extLst>
          </p:cNvPr>
          <p:cNvSpPr txBox="1"/>
          <p:nvPr/>
        </p:nvSpPr>
        <p:spPr>
          <a:xfrm>
            <a:off x="3055257" y="322942"/>
            <a:ext cx="6096000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Calibri"/>
              </a:rPr>
              <a:t>Entrada-</a:t>
            </a:r>
            <a:r>
              <a:rPr lang="en-US" sz="4400" b="1" dirty="0" err="1">
                <a:solidFill>
                  <a:srgbClr val="000000"/>
                </a:solidFill>
                <a:latin typeface="Calibri"/>
              </a:rPr>
              <a:t>Proceso</a:t>
            </a:r>
            <a:r>
              <a:rPr lang="en-US" sz="4400" b="1" dirty="0">
                <a:solidFill>
                  <a:srgbClr val="000000"/>
                </a:solidFill>
                <a:latin typeface="Calibri"/>
              </a:rPr>
              <a:t>-Salida</a:t>
            </a:r>
            <a:endParaRPr lang="es-ES" sz="44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4400" b="1">
                <a:ea typeface="Calibri"/>
                <a:cs typeface="Calibri"/>
              </a:rPr>
              <a:t>Principal</a:t>
            </a:r>
            <a:endParaRPr lang="en-US" sz="4400" b="1" dirty="0">
              <a:ea typeface="Calibri"/>
              <a:cs typeface="Calibri"/>
            </a:endParaRPr>
          </a:p>
          <a:p>
            <a:endParaRPr lang="es-ES" sz="4400" dirty="0">
              <a:ea typeface="Calibri"/>
              <a:cs typeface="Calibri"/>
            </a:endParaRPr>
          </a:p>
          <a:p>
            <a:pPr algn="ctr"/>
            <a:endParaRPr lang="es-ES">
              <a:ea typeface="Calibri"/>
              <a:cs typeface="Calibri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EC289B1-47DA-F4F9-B002-DFA538632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30112"/>
              </p:ext>
            </p:extLst>
          </p:nvPr>
        </p:nvGraphicFramePr>
        <p:xfrm>
          <a:off x="1921782" y="1747892"/>
          <a:ext cx="8362950" cy="16785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228248225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83820149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36124929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Entrada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Proceso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Salida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85498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Selección de categoría por el administrador.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Conexión mediante Selenium, parseo del código HTML con Jsoup y extracción masiva de datos.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Catálogo de productos estructurados y listados en la consola de admin.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604241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C7CDE4E-CD07-7CCA-F17B-1E9568046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24609"/>
              </p:ext>
            </p:extLst>
          </p:nvPr>
        </p:nvGraphicFramePr>
        <p:xfrm>
          <a:off x="1924050" y="4190088"/>
          <a:ext cx="8343900" cy="16854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366551454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4203920176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70319891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Entrada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Proceso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Salida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876813"/>
                  </a:ext>
                </a:extLst>
              </a:tr>
              <a:tr h="134302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1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Solicitud de visualización del catálogo por parte del cliente.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1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Ejecución del método getPrecioAlPublico() para aplicar los recargos del +31% (arancel) y +19% (IVA) sobre el precio base.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950"/>
                        </a:lnSpc>
                        <a:buNone/>
                      </a:pPr>
                      <a:r>
                        <a:rPr lang="es-ES" sz="1600" b="0" i="1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Despliegue en la Consola Cliente del catálogo con los precios finales calculados y listos para la compra.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2101" marR="122101">
                    <a:lnL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4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86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3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25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DA482B37-464C-3E5C-5E62-B7D43884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>
            <a:extLst>
              <a:ext uri="{FF2B5EF4-FFF2-40B4-BE49-F238E27FC236}">
                <a16:creationId xmlns:a16="http://schemas.microsoft.com/office/drawing/2014/main" id="{A82F53EC-0814-7961-7E31-D4817D3B68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266884" y="542162"/>
            <a:ext cx="534292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Calidad</a:t>
            </a:r>
            <a:endParaRPr lang="es-ES">
              <a:solidFill>
                <a:schemeClr val="dk1"/>
              </a:solidFill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A00A42-EEA7-372B-93D5-6339B2F8BDFE}"/>
              </a:ext>
            </a:extLst>
          </p:cNvPr>
          <p:cNvSpPr txBox="1"/>
          <p:nvPr/>
        </p:nvSpPr>
        <p:spPr>
          <a:xfrm>
            <a:off x="740837" y="1354166"/>
            <a:ext cx="10713737" cy="50844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"/>
              </a:spcBef>
            </a:pPr>
            <a:r>
              <a:rPr lang="es-ES" sz="2400" b="1">
                <a:ea typeface="Calibri"/>
                <a:cs typeface="Calibri"/>
              </a:rPr>
              <a:t>Usabilidad</a:t>
            </a:r>
            <a:endParaRPr lang="es-ES" sz="2400" b="1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r>
              <a:rPr lang="es-ES" sz="1600" i="1" dirty="0">
                <a:latin typeface="Calibri"/>
                <a:ea typeface="Calibri"/>
                <a:cs typeface="+mn-lt"/>
              </a:rPr>
              <a:t>Consolas interactivas basadas en menús numéricos explícitos que minimizan la curva de aprendizaje tanto para el usuario como para el administrador, evitando complejizar procesos de manera </a:t>
            </a:r>
            <a:r>
              <a:rPr lang="es-ES" sz="1600" i="1">
                <a:latin typeface="Calibri"/>
                <a:ea typeface="Calibri"/>
                <a:cs typeface="+mn-lt"/>
              </a:rPr>
              <a:t>innecesaria.</a:t>
            </a:r>
          </a:p>
          <a:p>
            <a:pPr>
              <a:spcBef>
                <a:spcPts val="20"/>
              </a:spcBef>
            </a:pPr>
            <a:endParaRPr lang="es-ES" sz="2400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endParaRPr lang="es-ES" sz="2400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r>
              <a:rPr lang="es-ES" sz="2400" b="1">
                <a:ea typeface="Calibri"/>
                <a:cs typeface="Calibri"/>
              </a:rPr>
              <a:t>Confiabilidad</a:t>
            </a:r>
            <a:endParaRPr lang="es-ES" sz="2400" b="1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r>
              <a:rPr lang="es-ES" sz="1600" i="1">
                <a:latin typeface="Calibri"/>
                <a:ea typeface="Calibri"/>
                <a:cs typeface="Calibri"/>
              </a:rPr>
              <a:t>Arquitectura de solo lectura para métricas administrativas, protegiendo los datos transaccionales.</a:t>
            </a:r>
            <a:endParaRPr lang="es-ES" sz="1600" i="1" dirty="0">
              <a:latin typeface="Calibri"/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endParaRPr lang="es-ES" sz="2400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endParaRPr lang="es-ES" sz="2400" dirty="0">
              <a:ea typeface="Calibri"/>
              <a:cs typeface="Calibri"/>
            </a:endParaRPr>
          </a:p>
          <a:p>
            <a:pPr>
              <a:spcBef>
                <a:spcPts val="20"/>
              </a:spcBef>
            </a:pPr>
            <a:r>
              <a:rPr lang="es-ES" sz="2400" b="1">
                <a:ea typeface="Calibri"/>
                <a:cs typeface="Calibri"/>
              </a:rPr>
              <a:t>Eficiencia</a:t>
            </a:r>
            <a:endParaRPr lang="es-ES" sz="2400" b="1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s-ES" sz="1600" i="1" dirty="0">
                <a:latin typeface="Calibri"/>
                <a:ea typeface="Calibri"/>
                <a:cs typeface="Calibri"/>
              </a:rPr>
              <a:t>Separación de hilos: El </a:t>
            </a:r>
            <a:r>
              <a:rPr lang="es-ES" sz="1600" i="1" dirty="0" err="1">
                <a:latin typeface="Calibri"/>
                <a:ea typeface="Calibri"/>
                <a:cs typeface="Calibri"/>
              </a:rPr>
              <a:t>bot</a:t>
            </a:r>
            <a:r>
              <a:rPr lang="es-ES" sz="1600" i="1" dirty="0">
                <a:latin typeface="Calibri"/>
                <a:ea typeface="Calibri"/>
                <a:cs typeface="Calibri"/>
              </a:rPr>
              <a:t> de </a:t>
            </a:r>
            <a:r>
              <a:rPr lang="es-ES" sz="1600" i="1" dirty="0" err="1">
                <a:latin typeface="Calibri"/>
                <a:ea typeface="Calibri"/>
                <a:cs typeface="Calibri"/>
              </a:rPr>
              <a:t>scraping</a:t>
            </a:r>
            <a:r>
              <a:rPr lang="es-ES" sz="1600" i="1" dirty="0">
                <a:latin typeface="Calibri"/>
                <a:ea typeface="Calibri"/>
                <a:cs typeface="Calibri"/>
              </a:rPr>
              <a:t> no afecta el rendimiento del portal del cliente. </a:t>
            </a:r>
          </a:p>
          <a:p>
            <a:pPr>
              <a:spcBef>
                <a:spcPct val="20000"/>
              </a:spcBef>
            </a:pPr>
            <a:r>
              <a:rPr lang="es-ES" sz="1600" i="1" dirty="0">
                <a:ea typeface="Calibri"/>
                <a:cs typeface="Calibri"/>
              </a:rPr>
              <a:t>Base de datos compartida, con permisos </a:t>
            </a:r>
            <a:r>
              <a:rPr lang="es-ES" sz="1600" i="1" dirty="0" err="1">
                <a:ea typeface="Calibri"/>
                <a:cs typeface="Calibri"/>
              </a:rPr>
              <a:t>especificos</a:t>
            </a:r>
            <a:r>
              <a:rPr lang="es-ES" sz="1600" i="1" dirty="0">
                <a:ea typeface="Calibri"/>
                <a:cs typeface="Calibri"/>
              </a:rPr>
              <a:t> para cada sistema y usuario, evitando improvistos (como eliminación de productos </a:t>
            </a:r>
            <a:r>
              <a:rPr lang="es-ES" sz="1600" i="1" dirty="0" err="1">
                <a:ea typeface="Calibri"/>
                <a:cs typeface="Calibri"/>
              </a:rPr>
              <a:t>scrapeados</a:t>
            </a:r>
            <a:r>
              <a:rPr lang="es-ES" sz="1600" i="1" dirty="0">
                <a:ea typeface="Calibri"/>
                <a:cs typeface="Calibri"/>
              </a:rPr>
              <a:t> por parte del cliente) y así, reducir costos operativos.</a:t>
            </a:r>
          </a:p>
          <a:p>
            <a:endParaRPr lang="es-ES" dirty="0">
              <a:ea typeface="Calibri"/>
              <a:cs typeface="Calibri"/>
            </a:endParaRPr>
          </a:p>
          <a:p>
            <a:endParaRPr lang="es-ES" dirty="0">
              <a:ea typeface="Calibri"/>
              <a:cs typeface="Calibri"/>
            </a:endParaRPr>
          </a:p>
          <a:p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74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096DD63E-81C8-FF04-9456-BC5902CB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>
            <a:extLst>
              <a:ext uri="{FF2B5EF4-FFF2-40B4-BE49-F238E27FC236}">
                <a16:creationId xmlns:a16="http://schemas.microsoft.com/office/drawing/2014/main" id="{50A8DA37-AA12-8EC6-3AE1-B8FDAFE44F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266884" y="1064676"/>
            <a:ext cx="534292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b="1" err="1">
                <a:solidFill>
                  <a:schemeClr val="dk1"/>
                </a:solidFill>
              </a:rPr>
              <a:t>Conclusió</a:t>
            </a:r>
            <a:r>
              <a:rPr lang="es-ES" b="1">
                <a:solidFill>
                  <a:schemeClr val="dk1"/>
                </a:solidFill>
              </a:rPr>
              <a:t>n</a:t>
            </a:r>
          </a:p>
        </p:txBody>
      </p:sp>
      <p:pic>
        <p:nvPicPr>
          <p:cNvPr id="310" name="Google Shape;310;p20" descr="http://www.clipartroo.com/images/33/group-talking-clipart-33811.png">
            <a:extLst>
              <a:ext uri="{FF2B5EF4-FFF2-40B4-BE49-F238E27FC236}">
                <a16:creationId xmlns:a16="http://schemas.microsoft.com/office/drawing/2014/main" id="{49F9DE4D-C45C-F9BF-6CA8-71C64718B2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2261" y="4909670"/>
            <a:ext cx="2295785" cy="16744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B44CF33-0B0A-0D9B-22C1-A710F94E6643}"/>
              </a:ext>
            </a:extLst>
          </p:cNvPr>
          <p:cNvSpPr txBox="1"/>
          <p:nvPr/>
        </p:nvSpPr>
        <p:spPr>
          <a:xfrm>
            <a:off x="1611694" y="1971023"/>
            <a:ext cx="865270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 logró un </a:t>
            </a:r>
            <a:r>
              <a:rPr lang="es-ES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roducto </a:t>
            </a:r>
            <a:r>
              <a:rPr lang="es-ES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ínimo </a:t>
            </a:r>
            <a:r>
              <a:rPr lang="es-ES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iable funcional que elimina los tiempos muertos de búsqueda manual implementando un método de </a:t>
            </a:r>
            <a:r>
              <a:rPr lang="es-E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scraping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mixto gracias a </a:t>
            </a:r>
            <a:r>
              <a:rPr lang="es-E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Selenium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s-E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Jsoup</a:t>
            </a:r>
            <a:r>
              <a:rPr lang="es-E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y así asegurando la rentabilidad mediante este proceso automático, extrayendo datos exactos en tiempo real como stock disponible y precio actual de productos.</a:t>
            </a:r>
            <a:endParaRPr lang="es-ES">
              <a:ea typeface="Calibri"/>
              <a:cs typeface="Calibri"/>
            </a:endParaRPr>
          </a:p>
          <a:p>
            <a:endParaRPr lang="es-E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s-E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Posibles mejoras:</a:t>
            </a:r>
          </a:p>
          <a:p>
            <a:endParaRPr lang="es-ES" dirty="0">
              <a:ea typeface="Calibri"/>
              <a:cs typeface="Calibri"/>
            </a:endParaRPr>
          </a:p>
          <a:p>
            <a:r>
              <a:rPr lang="es-ES" dirty="0">
                <a:ea typeface="Calibri"/>
                <a:cs typeface="Calibri"/>
              </a:rPr>
              <a:t>Creación de interfaz Móvil mediante </a:t>
            </a:r>
            <a:r>
              <a:rPr lang="es-ES" dirty="0" err="1">
                <a:ea typeface="Calibri"/>
                <a:cs typeface="Calibri"/>
              </a:rPr>
              <a:t>React</a:t>
            </a:r>
            <a:r>
              <a:rPr lang="es-ES" dirty="0">
                <a:ea typeface="Calibri"/>
                <a:cs typeface="Calibri"/>
              </a:rPr>
              <a:t> Native</a:t>
            </a:r>
          </a:p>
          <a:p>
            <a:r>
              <a:rPr lang="es-ES" dirty="0">
                <a:ea typeface="Calibri"/>
                <a:cs typeface="Calibri"/>
              </a:rPr>
              <a:t>Expansión de catálogos para hacer </a:t>
            </a:r>
            <a:r>
              <a:rPr lang="es-ES" dirty="0" err="1">
                <a:ea typeface="Calibri"/>
                <a:cs typeface="Calibri"/>
              </a:rPr>
              <a:t>scraping</a:t>
            </a:r>
            <a:r>
              <a:rPr lang="es-ES" dirty="0">
                <a:ea typeface="Calibri"/>
                <a:cs typeface="Calibri"/>
              </a:rPr>
              <a:t>, manteniendo el formato de búsqueda actual</a:t>
            </a:r>
          </a:p>
          <a:p>
            <a:endParaRPr lang="es-ES" dirty="0">
              <a:ea typeface="Calibri"/>
              <a:cs typeface="Calibri"/>
            </a:endParaRPr>
          </a:p>
          <a:p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318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Objetivos</vt:lpstr>
      <vt:lpstr>Presentación de PowerPoint</vt:lpstr>
      <vt:lpstr>Presentación de PowerPoint</vt:lpstr>
      <vt:lpstr>Presentación de PowerPoint</vt:lpstr>
      <vt:lpstr>Calidad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305</cp:revision>
  <dcterms:created xsi:type="dcterms:W3CDTF">2013-01-27T09:14:16Z</dcterms:created>
  <dcterms:modified xsi:type="dcterms:W3CDTF">2026-07-01T05:22:49Z</dcterms:modified>
  <cp:category/>
</cp:coreProperties>
</file>